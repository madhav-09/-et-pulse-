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269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introducing yourself and the product name. Pause on the tagline — let it land before moving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showing the ET homepage — same layout for a 60-year-old investor and a 20-year-old student. That's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solves one specific pain point from the previous slide. Show the onboarding flow — 3 steps, 30 seconds, then you're in your personalized newsroom.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flow for the pitch video. Walk through each step live. The key moment is Step 3 — switching to Hindi and watching the entire briefing translate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architectural decision — single runGrokPrompt() function handles all AI calls. Retry logic, error handling, and fallback data are written once and work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451× ROI number is the headline — ₹835 crore revenue on ₹1.85 crore operating cost. The vernacular engine alone opens a 350M-user market that English-only ET cannot reach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tagline — let it sit. Then say: 'We didn't build a better news app. We built a news intelligence engine. The difference is — one you read, the other thinks with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49808" y="-9144"/>
            <a:ext cx="8449056" cy="4224528"/>
          </a:xfrm>
          <a:prstGeom prst="ellipse">
            <a:avLst/>
          </a:prstGeom>
          <a:solidFill>
            <a:srgbClr val="FBBF24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94944"/>
            <a:ext cx="5632704" cy="2816352"/>
          </a:xfrm>
          <a:prstGeom prst="ellipse">
            <a:avLst/>
          </a:prstGeom>
          <a:solidFill>
            <a:srgbClr val="FBBF24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66544" y="1399032"/>
            <a:ext cx="2816352" cy="1408176"/>
          </a:xfrm>
          <a:prstGeom prst="ellipse">
            <a:avLst/>
          </a:prstGeom>
          <a:solidFill>
            <a:srgbClr val="FBBF24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97280"/>
            <a:ext cx="1828800" cy="1280160"/>
          </a:xfrm>
          <a:prstGeom prst="rect">
            <a:avLst/>
          </a:prstGeom>
          <a:noFill/>
          <a:ln/>
          <a:effectLst>
            <a:outerShdw blurRad="381000" dist="50800" dir="8100000" algn="bl" rotWithShape="0">
              <a:srgbClr val="D97706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2331720" y="10972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Pulse</a:t>
            </a:r>
            <a:endParaRPr lang="en-US" sz="88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0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Business News Intelligence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2880360"/>
            <a:ext cx="7315200" cy="685800"/>
          </a:xfrm>
          <a:prstGeom prst="rect">
            <a:avLst/>
          </a:prstGeom>
          <a:solidFill>
            <a:srgbClr val="1A1728">
              <a:alpha val="95000"/>
            </a:srgbClr>
          </a:solidFill>
          <a:ln w="6350">
            <a:solidFill>
              <a:srgbClr val="FBBF24">
                <a:alpha val="60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2880360"/>
            <a:ext cx="54864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8803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can't go back to reading news the old way."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4663440" cy="1097280"/>
          </a:xfrm>
          <a:prstGeom prst="rect">
            <a:avLst/>
          </a:prstGeom>
          <a:solidFill>
            <a:srgbClr val="16141F">
              <a:alpha val="90000"/>
            </a:srgbClr>
          </a:solidFill>
          <a:ln w="6350">
            <a:solidFill>
              <a:srgbClr val="FBBF24">
                <a:alpha val="40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785616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AAM_MUNDE  ·  Builder: Madhav Tiwari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+91-9374105274  ·  tiwarimadhav2309@gmail.com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linkedin.com/in/madhav-tiwari2309  ·  github.com/madhav-09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2026 (CS) Qualified  ·  AWS Certified Cloud Practitioner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3749040"/>
            <a:ext cx="3474720" cy="502920"/>
          </a:xfrm>
          <a:prstGeom prst="rect">
            <a:avLst/>
          </a:prstGeom>
          <a:solidFill>
            <a:srgbClr val="D97706">
              <a:alpha val="20000"/>
            </a:srgbClr>
          </a:solidFill>
          <a:ln w="6350">
            <a:solidFill>
              <a:srgbClr val="FBBF24">
                <a:alpha val="70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Track: AI-Native News Experience (#8)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News in 2026 Still Feels Like 2005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what readers need and what they get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2743200"/>
          </a:xfrm>
          <a:prstGeom prst="rect">
            <a:avLst/>
          </a:prstGeom>
          <a:solidFill>
            <a:srgbClr val="16141F">
              <a:alpha val="88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2743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42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Readers Need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08176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by role — Investor vs Student vs Founder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synthesized view of a complex story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adapted to their language — not just translated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— real dialogue, not passive reading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a story evolves over weeks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06240" cy="2743200"/>
          </a:xfrm>
          <a:prstGeom prst="rect">
            <a:avLst/>
          </a:prstGeom>
          <a:solidFill>
            <a:srgbClr val="16141F">
              <a:alpha val="88000"/>
            </a:srgbClr>
          </a:solidFill>
          <a:ln w="6350">
            <a:solidFill>
              <a:srgbClr val="EF4444">
                <a:alpha val="50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05840"/>
            <a:ext cx="54864" cy="2743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42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They Get Today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408176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homepage for 20 million users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separate articles to understand 1 story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— 500M vernacular users underserved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reading — no interaction, no depth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narrative tracking — stories just disappear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2743200" cy="1005840"/>
          </a:xfrm>
          <a:prstGeom prst="rect">
            <a:avLst/>
          </a:prstGeom>
          <a:solidFill>
            <a:srgbClr val="D97706">
              <a:alpha val="15000"/>
            </a:srgbClr>
          </a:solidFill>
          <a:ln w="6350">
            <a:solidFill>
              <a:srgbClr val="FBBF24">
                <a:alpha val="60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8862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 min/day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" y="427024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inefficient news consumption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3840480"/>
            <a:ext cx="2743200" cy="1005840"/>
          </a:xfrm>
          <a:prstGeom prst="rect">
            <a:avLst/>
          </a:prstGeom>
          <a:solidFill>
            <a:srgbClr val="D97706">
              <a:alpha val="15000"/>
            </a:srgbClr>
          </a:solidFill>
          <a:ln w="6350">
            <a:solidFill>
              <a:srgbClr val="FBBF24">
                <a:alpha val="60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8862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64992" y="427024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Hindi/Tamil/Telugu/Bengali-first Indians underserved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2743200" cy="1005840"/>
          </a:xfrm>
          <a:prstGeom prst="rect">
            <a:avLst/>
          </a:prstGeom>
          <a:solidFill>
            <a:srgbClr val="D97706">
              <a:alpha val="15000"/>
            </a:srgbClr>
          </a:solidFill>
          <a:ln w="6350">
            <a:solidFill>
              <a:srgbClr val="FBBF24">
                <a:alpha val="60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38862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₹835 Cr/yr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91072" y="427024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opportunity untapped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 Pulse — 5 AI-Native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filtered feed. A fundamentally different intelligence experience.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47472" y="950976"/>
            <a:ext cx="4160520" cy="182880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BBF24">
                <a:alpha val="38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50976"/>
            <a:ext cx="54864" cy="1828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0424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Deep Briefing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" y="1408176"/>
            <a:ext cx="390448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articles → 1 AI-synthesised intelligence doc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sections: Summary · Market Impact · Timeline · Signals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follow-up chat grounded in briefing 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50976"/>
            <a:ext cx="4087368" cy="182880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BBF24">
                <a:alpha val="38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50976"/>
            <a:ext cx="54864" cy="1828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04241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My ET Feed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408176"/>
            <a:ext cx="383133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by Persona: Investor / Founder / Student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 via NewsAPI filtered by chosen topics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badges + Story Arc on every card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871216"/>
            <a:ext cx="2651760" cy="201168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BBF24">
                <a:alpha val="38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871216"/>
            <a:ext cx="54864" cy="2011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9626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Story Arc Tracker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" y="3328416"/>
            <a:ext cx="2395728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complete visual narrative for any story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timeline · Sentiment trend chart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 view + 'What to watch next' predictions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82112" y="2871216"/>
            <a:ext cx="2651760" cy="201168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BBF24">
                <a:alpha val="38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2871216"/>
            <a:ext cx="54864" cy="2011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29626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Intelligence Search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46704" y="3328416"/>
            <a:ext cx="2395728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⌘K anywhere → instant AI intelligence page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 · Market impact rating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story arc + live chat on every search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6752" y="2871216"/>
            <a:ext cx="2779776" cy="201168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BBF24">
                <a:alpha val="38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16752" y="2871216"/>
            <a:ext cx="54864" cy="2011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296265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Vernacular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81344" y="3328416"/>
            <a:ext cx="252374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हिंदी · தமிழ் · తెలుగు · বাংলা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 adapted — not literal translation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sections translate in parallel simultaneously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User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onboarding to intelligence in under 60 seconds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1627632" cy="3950208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BBF24">
                <a:alpha val="4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60120"/>
            <a:ext cx="1627632" cy="438912"/>
          </a:xfrm>
          <a:prstGeom prst="rect">
            <a:avLst/>
          </a:prstGeom>
          <a:solidFill>
            <a:srgbClr val="FBBF24">
              <a:alpha val="3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149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033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" y="1463040"/>
            <a:ext cx="1481328" cy="3328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persona: Investor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Markets, IPO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हिंदी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 My 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19656" y="2734056"/>
            <a:ext cx="192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92808" y="960120"/>
            <a:ext cx="1627632" cy="3950208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60A5FA">
                <a:alpha val="4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92808" y="960120"/>
            <a:ext cx="1627632" cy="438912"/>
          </a:xfrm>
          <a:prstGeom prst="rect">
            <a:avLst/>
          </a:prstGeom>
          <a:solidFill>
            <a:srgbClr val="60A5FA">
              <a:alpha val="3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0149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50008" y="1033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FEED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84248" y="1463040"/>
            <a:ext cx="1481328" cy="3328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articles (NewsAPI)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your topics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badges on cards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🧠 Deep Briefing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11296" y="2734056"/>
            <a:ext cx="192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84448" y="960120"/>
            <a:ext cx="1627632" cy="3950208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A78BFA">
                <a:alpha val="4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4448" y="960120"/>
            <a:ext cx="1627632" cy="438912"/>
          </a:xfrm>
          <a:prstGeom prst="rect">
            <a:avLst/>
          </a:prstGeom>
          <a:solidFill>
            <a:srgbClr val="A78BFA">
              <a:alpha val="3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0149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41648" y="1033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BRIEFING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75888" y="1463040"/>
            <a:ext cx="1481328" cy="3328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synthesises all coverage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7-section intelligence doc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Hindi → live translate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 in chat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02936" y="2734056"/>
            <a:ext cx="192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76088" y="960120"/>
            <a:ext cx="1627632" cy="3950208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34D399">
                <a:alpha val="4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76088" y="960120"/>
            <a:ext cx="1627632" cy="438912"/>
          </a:xfrm>
          <a:prstGeom prst="rect">
            <a:avLst/>
          </a:prstGeom>
          <a:solidFill>
            <a:srgbClr val="34D399">
              <a:alpha val="3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0149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33288" y="1033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ARC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67528" y="1463040"/>
            <a:ext cx="1481328" cy="3328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'Adani Group'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events loads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trend chart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players + predictions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94576" y="2734056"/>
            <a:ext cx="192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67728" y="960120"/>
            <a:ext cx="1627632" cy="3950208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87171">
                <a:alpha val="4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67728" y="960120"/>
            <a:ext cx="1627632" cy="438912"/>
          </a:xfrm>
          <a:prstGeom prst="rect">
            <a:avLst/>
          </a:prstGeom>
          <a:solidFill>
            <a:srgbClr val="F87171">
              <a:alpha val="3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10149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24928" y="1033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⌘K SEARCH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59168" y="1463040"/>
            <a:ext cx="1481328" cy="3328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⌘K anywhere in the app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company/topic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intelligence page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the 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5A601211-4B50-F903-0A4B-FD12A74B6FC9}"/>
              </a:ext>
            </a:extLst>
          </p:cNvPr>
          <p:cNvSpPr/>
          <p:nvPr/>
        </p:nvSpPr>
        <p:spPr>
          <a:xfrm>
            <a:off x="457200" y="164592"/>
            <a:ext cx="6635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— How the AI Works</a:t>
            </a:r>
            <a:endParaRPr lang="en-US" sz="28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C62A739-CD1F-59E5-372C-2C3998CF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43" y="476780"/>
            <a:ext cx="8066314" cy="4502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Case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₹835 crore/year opportunity  ·  451× ROI  ·  Built in 2 weeks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47472" y="932688"/>
            <a:ext cx="2834640" cy="292608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60A5FA">
                <a:alpha val="5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32688"/>
            <a:ext cx="54864" cy="2926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02412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Saved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" y="1426464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86077" y="1426464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min/day per user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2064" y="1682496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892808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ET Pulse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86077" y="1892808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min/day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" y="2148840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359152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86077" y="2359152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min/day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" y="2615184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825496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3M DAU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86077" y="2825496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1.3M hours/day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064" y="3081528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291840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user value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86077" y="3291840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₹19,500 crore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" y="3547872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932688"/>
            <a:ext cx="2834640" cy="292608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BBF24">
                <a:alpha val="5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932688"/>
            <a:ext cx="54864" cy="2926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102412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Unlocked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56432" y="1426464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0445" y="1426464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→ 9.5 min (+126%)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56432" y="1682496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1892808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 lift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0445" y="1892808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₹788 crore/year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56432" y="2148840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2359152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Prime lift (+50%)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0445" y="2359152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 crore/year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56432" y="2615184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2825496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expansion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0445" y="2825496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 crore/year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56432" y="3081528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3291840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0445" y="3291840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₹835 crore/year (~$100M)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56432" y="3547872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6208" y="932688"/>
            <a:ext cx="2834640" cy="292608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34D399">
                <a:alpha val="5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6208" y="932688"/>
            <a:ext cx="54864" cy="2926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102412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Cost to Operate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0" y="1426464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(3M DAU)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874813" y="1426464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~$217K/year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0" y="1682496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1892808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Business plan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74813" y="1892808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~$5.4K/year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0" y="2148840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2359152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operating cost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874813" y="2359152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₹1.85 crore/year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00800" y="2615184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2825496"/>
            <a:ext cx="14740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874813" y="2825496"/>
            <a:ext cx="11905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451× return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00800" y="3081528"/>
            <a:ext cx="2578608" cy="0"/>
          </a:xfrm>
          <a:prstGeom prst="line">
            <a:avLst/>
          </a:prstGeom>
          <a:noFill/>
          <a:ln w="5080">
            <a:solidFill>
              <a:srgbClr val="2D2A40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7472" y="3950208"/>
            <a:ext cx="8449056" cy="914400"/>
          </a:xfrm>
          <a:prstGeom prst="rect">
            <a:avLst/>
          </a:prstGeom>
          <a:solidFill>
            <a:srgbClr val="D97706">
              <a:alpha val="25000"/>
            </a:srgbClr>
          </a:solidFill>
          <a:ln w="6350">
            <a:solidFill>
              <a:srgbClr val="FBBF24">
                <a:alpha val="7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02920" y="3950208"/>
            <a:ext cx="8302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MVP was built with 2 API keys, 0 proprietary infrastructure, and 2 days of development."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" y="160020"/>
            <a:ext cx="9601200" cy="4800600"/>
          </a:xfrm>
          <a:prstGeom prst="ellipse">
            <a:avLst/>
          </a:prstGeom>
          <a:solidFill>
            <a:srgbClr val="FBBF24">
              <a:alpha val="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960120"/>
            <a:ext cx="6400800" cy="3200400"/>
          </a:xfrm>
          <a:prstGeom prst="ellipse">
            <a:avLst/>
          </a:prstGeom>
          <a:solidFill>
            <a:srgbClr val="FBBF24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1760220"/>
            <a:ext cx="3200400" cy="1600200"/>
          </a:xfrm>
          <a:prstGeom prst="ellipse">
            <a:avLst/>
          </a:prstGeom>
          <a:solidFill>
            <a:srgbClr val="FBBF24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 Pulse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630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kern="0" spc="1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newsroom that thinks with you.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4206240" cy="274320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BBF24">
                <a:alpha val="4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005840"/>
            <a:ext cx="54864" cy="2743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0515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389888"/>
            <a:ext cx="3895344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ET — personalised feed (real NewsAPI data)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Briefing — AI intelligence navigator + chat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Arc Tracker — visual narrative + sentiment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Search — ⌘K, full AI context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Engine — 5 languages, culturally adapted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backend — runs on 2 API keys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 — 13 routes, 0 TypeScript errors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73168" y="1005840"/>
            <a:ext cx="4023360" cy="2743200"/>
          </a:xfrm>
          <a:prstGeom prst="rect">
            <a:avLst/>
          </a:prstGeom>
          <a:solidFill>
            <a:srgbClr val="1E1B2E">
              <a:alpha val="95000"/>
            </a:srgbClr>
          </a:solidFill>
          <a:ln w="6350">
            <a:solidFill>
              <a:srgbClr val="FBBF24">
                <a:alpha val="45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1005840"/>
            <a:ext cx="54864" cy="2743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05156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1417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user per 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56048" y="1783080"/>
            <a:ext cx="3566160" cy="0"/>
          </a:xfrm>
          <a:prstGeom prst="line">
            <a:avLst/>
          </a:prstGeom>
          <a:noFill/>
          <a:ln w="5080">
            <a:solidFill>
              <a:srgbClr val="2D2A40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810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AI 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1856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API routes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56048" y="2176272"/>
            <a:ext cx="3566160" cy="0"/>
          </a:xfrm>
          <a:prstGeom prst="line">
            <a:avLst/>
          </a:prstGeom>
          <a:noFill/>
          <a:ln w="5080">
            <a:solidFill>
              <a:srgbClr val="2D2A40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2037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languages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2249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56048" y="2569464"/>
            <a:ext cx="3566160" cy="0"/>
          </a:xfrm>
          <a:prstGeom prst="line">
            <a:avLst/>
          </a:prstGeom>
          <a:noFill/>
          <a:ln w="5080">
            <a:solidFill>
              <a:srgbClr val="2D2A40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5968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₹835 Cr/yr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2642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56048" y="2962656"/>
            <a:ext cx="3566160" cy="0"/>
          </a:xfrm>
          <a:prstGeom prst="line">
            <a:avLst/>
          </a:prstGeom>
          <a:noFill/>
          <a:ln w="5080">
            <a:solidFill>
              <a:srgbClr val="2D2A40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9900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451×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operating cost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56048" y="3355848"/>
            <a:ext cx="3566160" cy="0"/>
          </a:xfrm>
          <a:prstGeom prst="line">
            <a:avLst/>
          </a:prstGeom>
          <a:noFill/>
          <a:ln w="5080">
            <a:solidFill>
              <a:srgbClr val="2D2A4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383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days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29400" y="3429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3822192"/>
            <a:ext cx="8449056" cy="786384"/>
          </a:xfrm>
          <a:prstGeom prst="rect">
            <a:avLst/>
          </a:prstGeom>
          <a:solidFill>
            <a:srgbClr val="100E1A">
              <a:alpha val="82000"/>
            </a:srgbClr>
          </a:solidFill>
          <a:ln w="6350">
            <a:solidFill>
              <a:srgbClr val="FBBF24">
                <a:alpha val="70000"/>
              </a:srgbClr>
            </a:solidFill>
            <a:prstDash val="solid"/>
          </a:ln>
          <a:effectLst>
            <a:outerShdw blurRad="228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822192"/>
            <a:ext cx="8302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can't go back to reading news the old way."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0" y="4626864"/>
            <a:ext cx="9144000" cy="516636"/>
          </a:xfrm>
          <a:prstGeom prst="rect">
            <a:avLst/>
          </a:prstGeom>
          <a:solidFill>
            <a:srgbClr val="2D2A4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626864"/>
            <a:ext cx="85953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AAM_MUNDE  ·  Madhav Tiwari  ·  GATE 2026 (CS)  ·  AWS Certified Cloud Practitioner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C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+91-9374105274  ·  tiwarimadhav2309@gmail.com  ·  linkedin.com/in/madhav-tiwari2309  ·  github.com/madhav-09/-ET-Pulse-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1012</Words>
  <Application>Microsoft Office PowerPoint</Application>
  <PresentationFormat>On-screen Show (16:9)</PresentationFormat>
  <Paragraphs>162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Pulse — AI-Native Business News Intelligence</dc:title>
  <dc:subject>PptxGenJS Presentation</dc:subject>
  <dc:creator>Madhav Tiwari / AAM_MUNDE</dc:creator>
  <cp:lastModifiedBy>Madhav Tiwari</cp:lastModifiedBy>
  <cp:revision>2</cp:revision>
  <dcterms:created xsi:type="dcterms:W3CDTF">2026-03-29T04:43:12Z</dcterms:created>
  <dcterms:modified xsi:type="dcterms:W3CDTF">2026-03-29T04:51:05Z</dcterms:modified>
</cp:coreProperties>
</file>